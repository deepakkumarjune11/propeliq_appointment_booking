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4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4" name="Text 2"/>
          <p:cNvSpPr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7C3AE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Propel</a:t>
            </a:r>
            <a:r>
              <a:rPr lang="en-IN" altLang="en-US" sz="5400" b="1" dirty="0">
                <a:solidFill>
                  <a:srgbClr val="7C3AE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SDLC</a:t>
            </a:r>
            <a:endParaRPr lang="en-IN" altLang="en-US" sz="5400" b="1" dirty="0">
              <a:solidFill>
                <a:srgbClr val="7C3AED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109728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Appointment Booking &amp;</a:t>
            </a:r>
            <a:endParaRPr lang="en-US" sz="2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Clinical Intelligence Platform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4572000" cy="457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7" name="Text 5"/>
          <p:cNvSpPr/>
          <p:nvPr/>
        </p:nvSpPr>
        <p:spPr>
          <a:xfrm>
            <a:off x="457200" y="3566160"/>
            <a:ext cx="109728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 healthcare platform that simplifies appointment booking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and helps staff manage patient documents efficiently.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Presented by: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983480"/>
            <a:ext cx="2834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Deepakkumar Sivakumar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4983480"/>
            <a:ext cx="2834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Arunprakash Sankar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4983480"/>
            <a:ext cx="2834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Nanthakumar Thangavel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235440" y="4983480"/>
            <a:ext cx="2834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Mahesh Balasaheb Gavali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C3AE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What is this project?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005840" cy="5486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5" name="Text 3"/>
          <p:cNvSpPr/>
          <p:nvPr/>
        </p:nvSpPr>
        <p:spPr>
          <a:xfrm>
            <a:off x="457200" y="1005840"/>
            <a:ext cx="53035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731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90472"/>
            <a:ext cx="4846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Patients struggle to book appointments easily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724912"/>
            <a:ext cx="4846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Doctors waste 20+ minutes reading old patient reports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959352"/>
            <a:ext cx="4846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Staff manage everything manually — slow and error-prone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512064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193792"/>
            <a:ext cx="4846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No single place to see a patient's medical documents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89320" y="1005840"/>
            <a:ext cx="36576" cy="5577840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15" name="Text 13"/>
          <p:cNvSpPr/>
          <p:nvPr/>
        </p:nvSpPr>
        <p:spPr>
          <a:xfrm>
            <a:off x="6309360" y="1005840"/>
            <a:ext cx="5486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C55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0" y="141732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490472"/>
            <a:ext cx="51206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Easy online booking with smart slot selection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265176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724912"/>
            <a:ext cx="51206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Upload and manage patient documents in one place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388620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959352"/>
            <a:ext cx="51206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Staff handle walk-ins and queues in real time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512064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5193792"/>
            <a:ext cx="51206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Conflict detection flags issues across patient documents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82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Technology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005840" cy="54864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5" name="Shape 3"/>
          <p:cNvSpPr/>
          <p:nvPr/>
        </p:nvSpPr>
        <p:spPr>
          <a:xfrm>
            <a:off x="365760" y="1097280"/>
            <a:ext cx="2743200" cy="5394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25603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2377440" cy="36576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8" name="Text 6"/>
          <p:cNvSpPr/>
          <p:nvPr/>
        </p:nvSpPr>
        <p:spPr>
          <a:xfrm>
            <a:off x="502920" y="1828800"/>
            <a:ext cx="2514600" cy="4389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React 18 + TypeScript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Vite (fast build tool)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Tailwind CSS (styling)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Zustand (state management)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Axios (API calls)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SignalR (real-time)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743200" cy="5394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3175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207008"/>
            <a:ext cx="25603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Backend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29000" y="1664208"/>
            <a:ext cx="2377440" cy="36576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2" name="Text 10"/>
          <p:cNvSpPr/>
          <p:nvPr/>
        </p:nvSpPr>
        <p:spPr>
          <a:xfrm>
            <a:off x="3383280" y="1828800"/>
            <a:ext cx="2514600" cy="4389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ASP.NET Core 8 (C#)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REST Web API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JWT (login security)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SignalR Hub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MediatR (CQRS pattern)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FluentValidation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743200" cy="5394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3175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207008"/>
            <a:ext cx="25603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09360" y="1664208"/>
            <a:ext cx="2377440" cy="36576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16" name="Text 14"/>
          <p:cNvSpPr/>
          <p:nvPr/>
        </p:nvSpPr>
        <p:spPr>
          <a:xfrm>
            <a:off x="6263640" y="1828800"/>
            <a:ext cx="2514600" cy="4389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PostgreSQL 15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pgvector extension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Redis 7 (fast cache)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EF Core 8 (ORM)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Encrypted PHI columns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Audit log tables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06840" y="1097280"/>
            <a:ext cx="2743200" cy="5394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3175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1207008"/>
            <a:ext cx="25603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89720" y="1664208"/>
            <a:ext cx="2377440" cy="36576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20" name="Text 18"/>
          <p:cNvSpPr/>
          <p:nvPr/>
        </p:nvSpPr>
        <p:spPr>
          <a:xfrm>
            <a:off x="9144000" y="1828800"/>
            <a:ext cx="2514600" cy="4389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Docker + Compose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IIS / Windows host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GitHub (source control)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WAL Backup scripts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VS Code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PropelIQ Copilot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C55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005840" cy="54864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5" name="Shape 3"/>
          <p:cNvSpPr/>
          <p:nvPr/>
        </p:nvSpPr>
        <p:spPr>
          <a:xfrm>
            <a:off x="822960" y="1188720"/>
            <a:ext cx="914400" cy="9144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07008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2286000"/>
            <a:ext cx="173736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350008"/>
            <a:ext cx="17373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Patient registers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&amp; logs 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48840" y="1600200"/>
            <a:ext cx="182880" cy="274320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10" name="Shape 8"/>
          <p:cNvSpPr/>
          <p:nvPr/>
        </p:nvSpPr>
        <p:spPr>
          <a:xfrm>
            <a:off x="2743200" y="1188720"/>
            <a:ext cx="914400" cy="9144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207008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331720" y="2286000"/>
            <a:ext cx="173736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2350008"/>
            <a:ext cx="17373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Selects date, doctor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&amp; time slot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69080" y="1600200"/>
            <a:ext cx="182880" cy="274320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15" name="Shape 13"/>
          <p:cNvSpPr/>
          <p:nvPr/>
        </p:nvSpPr>
        <p:spPr>
          <a:xfrm>
            <a:off x="4663440" y="1188720"/>
            <a:ext cx="914400" cy="9144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207008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251960" y="2286000"/>
            <a:ext cx="173736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2350008"/>
            <a:ext cx="17373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Fills intake form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(chat or manual)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89320" y="1600200"/>
            <a:ext cx="182880" cy="274320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20" name="Shape 18"/>
          <p:cNvSpPr/>
          <p:nvPr/>
        </p:nvSpPr>
        <p:spPr>
          <a:xfrm>
            <a:off x="6583680" y="1188720"/>
            <a:ext cx="914400" cy="9144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1207008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172200" y="2286000"/>
            <a:ext cx="173736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2350008"/>
            <a:ext cx="17373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Booking confirmed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+ PDF email sent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09560" y="1600200"/>
            <a:ext cx="182880" cy="274320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25" name="Shape 23"/>
          <p:cNvSpPr/>
          <p:nvPr/>
        </p:nvSpPr>
        <p:spPr>
          <a:xfrm>
            <a:off x="8503920" y="1188720"/>
            <a:ext cx="914400" cy="9144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0" y="1207008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8092440" y="2286000"/>
            <a:ext cx="173736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92440" y="2350008"/>
            <a:ext cx="17373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Staff marks patient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as Arrived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829800" y="1600200"/>
            <a:ext cx="182880" cy="274320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30" name="Shape 28"/>
          <p:cNvSpPr/>
          <p:nvPr/>
        </p:nvSpPr>
        <p:spPr>
          <a:xfrm>
            <a:off x="10424160" y="1188720"/>
            <a:ext cx="914400" cy="9144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24160" y="1207008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6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10012680" y="2286000"/>
            <a:ext cx="173736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12680" y="2350008"/>
            <a:ext cx="173736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Conflict check 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patient documents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3794760"/>
            <a:ext cx="11247120" cy="260604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3913632"/>
            <a:ext cx="10789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Two Main Modules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85800" y="4370832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0F172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4416552"/>
            <a:ext cx="48463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Patient Access Module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2960" y="4800600"/>
            <a:ext cx="48463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Handles booking, slot selection, intake forms, walk-ins, queue management, and patient login — everything needed to schedule an appointment.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4370832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0F172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4416552"/>
            <a:ext cx="4937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Clinical Intelligence Module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46520" y="4800600"/>
            <a:ext cx="493776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Accepts uploaded patient documents, detects conflicts between documents, and shows staff a unified view of the patient's data for review.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731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User Roles &amp; What They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005840" cy="54864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5" name="Shape 3"/>
          <p:cNvSpPr/>
          <p:nvPr/>
        </p:nvSpPr>
        <p:spPr>
          <a:xfrm>
            <a:off x="365760" y="1097280"/>
            <a:ext cx="3611880" cy="5029200"/>
          </a:xfrm>
          <a:prstGeom prst="roundRect">
            <a:avLst>
              <a:gd name="adj" fmla="val 3038"/>
            </a:avLst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207008"/>
            <a:ext cx="33375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Patient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600200"/>
            <a:ext cx="3337560" cy="44074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Book, reschedule or cancel appointments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Fill intake form (chat-based or manual)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Tag a preferred slot — auto-swapped when it opens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View appointment history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Receive SMS / email reminders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097280"/>
            <a:ext cx="3611880" cy="5029200"/>
          </a:xfrm>
          <a:prstGeom prst="roundRect">
            <a:avLst>
              <a:gd name="adj" fmla="val 3038"/>
            </a:avLst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62272" y="1207008"/>
            <a:ext cx="33375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Staff  (Front Desk / Call Center)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62272" y="1600200"/>
            <a:ext cx="3337560" cy="44074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Create walk-in bookings for patients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Manage same-day queue in real time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Mark patients as Arrived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View and update appointment status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Upload patient clinical documents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Configure provider availability &amp; schedules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0" y="1097280"/>
            <a:ext cx="3611880" cy="5029200"/>
          </a:xfrm>
          <a:prstGeom prst="roundRect">
            <a:avLst>
              <a:gd name="adj" fmla="val 3038"/>
            </a:avLst>
          </a:prstGeom>
          <a:solidFill>
            <a:srgbClr val="1E293B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94192" y="1207008"/>
            <a:ext cx="33375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Admin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94192" y="1600200"/>
            <a:ext cx="3337560" cy="44074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Create and manage staff accounts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Assign roles: Patient / Staff / Admin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View analytics: bookings, no-shows, trends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Monitor document conflict counts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Deactivate accounts or reset passwords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Cannot self-register (security enforced)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C3AE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Key Features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005840" cy="5486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5" name="Shape 3"/>
          <p:cNvSpPr/>
          <p:nvPr/>
        </p:nvSpPr>
        <p:spPr>
          <a:xfrm>
            <a:off x="365760" y="1097280"/>
            <a:ext cx="3749040" cy="237744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3474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Smart Slot Swap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3474720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Book an available slot now and tag a preferred one. System auto-swaps when the preferred slot opens.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097280"/>
            <a:ext cx="3749040" cy="237744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1207008"/>
            <a:ext cx="3474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Flexible Intake Form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34840" y="1664208"/>
            <a:ext cx="3474720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Patient fills a conversational chat form or a regular manual form — they can switch between them freely.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0" y="1097280"/>
            <a:ext cx="3749040" cy="237744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1207008"/>
            <a:ext cx="3474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Document Upload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66760" y="1664208"/>
            <a:ext cx="3474720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Staff upload patient clinical documents (PDFs) securely. All files are encrypted and stored safely.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794760"/>
            <a:ext cx="3749040" cy="237744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904488"/>
            <a:ext cx="3474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Conflict Detection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4361688"/>
            <a:ext cx="3474720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System checks all uploaded documents and flags any conflicting data (e.g. two different medication records).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97680" y="3794760"/>
            <a:ext cx="3749040" cy="237744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3904488"/>
            <a:ext cx="3474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Real-Time Queue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34840" y="4361688"/>
            <a:ext cx="3474720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Staff see the patient queue update live on screen without refreshing — powered by SignalR WebSocket.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0" y="3794760"/>
            <a:ext cx="3749040" cy="237744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3904488"/>
            <a:ext cx="3474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Analytics Dashboard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66760" y="4361688"/>
            <a:ext cx="3474720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Admin views booking volumes, no-show rates, and queue metrics to make operational decisions.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A5E9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BRD to Tasks Workflow — How We Plan &amp; Build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005840" cy="54864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5" name="Text 3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We use the PropelIQ-Copilot AI framework to convert a business document into working code through structured steps: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566928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673352"/>
            <a:ext cx="566928" cy="5669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673352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70432" y="1508760"/>
            <a:ext cx="2286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182880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Business Requirements Document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1508760"/>
            <a:ext cx="2331720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The starting point — written by the business team. Describes the problem, goals, and what the system must do.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26080" y="2560320"/>
            <a:ext cx="274320" cy="155448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13" name="Shape 11"/>
          <p:cNvSpPr/>
          <p:nvPr/>
        </p:nvSpPr>
        <p:spPr>
          <a:xfrm>
            <a:off x="365760" y="2715768"/>
            <a:ext cx="566928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2971800"/>
            <a:ext cx="566928" cy="5669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971800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70432" y="2807208"/>
            <a:ext cx="2286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spec.md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70432" y="3127248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Functional Requirements (FR-XXX)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2807208"/>
            <a:ext cx="2331720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We read the BRD and generate a formal spec with numbered requirements, use cases, and acceptance rules.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26080" y="3858768"/>
            <a:ext cx="274320" cy="155448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20" name="Shape 18"/>
          <p:cNvSpPr/>
          <p:nvPr/>
        </p:nvSpPr>
        <p:spPr>
          <a:xfrm>
            <a:off x="365760" y="4014216"/>
            <a:ext cx="566928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4270248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4270248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70432" y="4105656"/>
            <a:ext cx="2286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design.md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70432" y="4425696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Architecture Design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66160" y="4105656"/>
            <a:ext cx="2331720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Technical design decisions: which layers, which patterns (Clean Architecture, CQRS), database schema, API contracts.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926080" y="5157216"/>
            <a:ext cx="274320" cy="155448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27" name="Shape 25"/>
          <p:cNvSpPr/>
          <p:nvPr/>
        </p:nvSpPr>
        <p:spPr>
          <a:xfrm>
            <a:off x="365760" y="5312664"/>
            <a:ext cx="566928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" y="5568696"/>
            <a:ext cx="566928" cy="5669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5568696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70432" y="5404104"/>
            <a:ext cx="2286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epics.md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70432" y="5724144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Epics (EP-001 … EP-009)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66160" y="5404104"/>
            <a:ext cx="2331720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Big feature groups. Each epic covers a business area like 'Patient Booking' or 'Document Upload'.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09360" y="1417320"/>
            <a:ext cx="566928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19088" y="1673352"/>
            <a:ext cx="566928" cy="5669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19088" y="1673352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14032" y="1508760"/>
            <a:ext cx="2286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us_XXX.md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114032" y="182880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User Stories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509760" y="1508760"/>
            <a:ext cx="2331720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Each epic breaks into small user stories with 'As a [role], I want [action] so that [benefit]' format and acceptance criteria.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09360" y="2715768"/>
            <a:ext cx="566928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19088" y="2971800"/>
            <a:ext cx="566928" cy="5669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19088" y="2971800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6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14032" y="2807208"/>
            <a:ext cx="2286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task_XXX.md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114032" y="3127248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Development Tasks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509760" y="2807208"/>
            <a:ext cx="2331720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Each user story splits into concrete dev tasks: one for the API, one for the database, one for the frontend UI, etc.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309360" y="4014216"/>
            <a:ext cx="566928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19088" y="4270248"/>
            <a:ext cx="566928" cy="5669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19088" y="4270248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7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114032" y="4105656"/>
            <a:ext cx="2286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Code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114032" y="4425696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509760" y="4105656"/>
            <a:ext cx="2331720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Developers implement each task file. Code is reviewed, tested, and merged into the main branch.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806440" y="260604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▶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C55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What Each Generated File Is Used For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005840" cy="54864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5" name="Shape 3"/>
          <p:cNvSpPr/>
          <p:nvPr/>
        </p:nvSpPr>
        <p:spPr>
          <a:xfrm>
            <a:off x="365760" y="1005840"/>
            <a:ext cx="5669280" cy="1261872"/>
          </a:xfrm>
          <a:prstGeom prst="roundRect">
            <a:avLst>
              <a:gd name="adj" fmla="val 7246"/>
            </a:avLst>
          </a:prstGeom>
          <a:solidFill>
            <a:srgbClr val="1E293B"/>
          </a:solidFill>
          <a:ln w="2286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2011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spec.md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06040" y="1124712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124712"/>
            <a:ext cx="1234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Requirements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539496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The master requirements file. Lists all Functional Requirements (FR-XXX), Use Cases (UC-XXX), and Non-Functional Requirements. Every feature we build is traced back to a line in this file.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005840"/>
            <a:ext cx="5669280" cy="1261872"/>
          </a:xfrm>
          <a:prstGeom prst="roundRect">
            <a:avLst>
              <a:gd name="adj" fmla="val 7246"/>
            </a:avLst>
          </a:prstGeom>
          <a:solidFill>
            <a:srgbClr val="1E293B"/>
          </a:solidFill>
          <a:ln w="2286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097280"/>
            <a:ext cx="2011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design.md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03920" y="1124712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1124712"/>
            <a:ext cx="1234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0" y="1508760"/>
            <a:ext cx="539496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Defines HOW we build it: Clean Architecture layers, CQRS pattern, database schema, API endpoints, security design, and technology decisions. The dev team follows this blueprint.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423160"/>
            <a:ext cx="5669280" cy="1261872"/>
          </a:xfrm>
          <a:prstGeom prst="roundRect">
            <a:avLst>
              <a:gd name="adj" fmla="val 7246"/>
            </a:avLst>
          </a:prstGeom>
          <a:solidFill>
            <a:srgbClr val="1E293B"/>
          </a:solidFill>
          <a:ln w="2286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14600"/>
            <a:ext cx="2011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epics.md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606040" y="2542032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2542032"/>
            <a:ext cx="1234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Feature Groups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2926080"/>
            <a:ext cx="539496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Groups related requirements into 12 Epics (EP-001 to EP-009). For example EP-001 covers all Patient Booking features, EP-003 covers Document Upload. Helps organise the backlog.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2423160"/>
            <a:ext cx="5669280" cy="1261872"/>
          </a:xfrm>
          <a:prstGeom prst="roundRect">
            <a:avLst>
              <a:gd name="adj" fmla="val 7246"/>
            </a:avLst>
          </a:prstGeom>
          <a:solidFill>
            <a:srgbClr val="1E293B"/>
          </a:solidFill>
          <a:ln w="2286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514600"/>
            <a:ext cx="2011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us_XXX.md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503920" y="2542032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2542032"/>
            <a:ext cx="1234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User Stories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0" y="2926080"/>
            <a:ext cx="539496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One file per user story. Written as 'As a Patient, I want to book a slot so that I can see a doctor'. Contains acceptance criteria, effort estimate, and which Epic it belongs to.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840480"/>
            <a:ext cx="5669280" cy="1261872"/>
          </a:xfrm>
          <a:prstGeom prst="roundRect">
            <a:avLst>
              <a:gd name="adj" fmla="val 7246"/>
            </a:avLst>
          </a:prstGeom>
          <a:solidFill>
            <a:srgbClr val="1E293B"/>
          </a:solidFill>
          <a:ln w="2286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931920"/>
            <a:ext cx="2011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task_XXX.md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606040" y="3959352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06040" y="3959352"/>
            <a:ext cx="1234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Dev Tasks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4343400"/>
            <a:ext cx="539496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One task file per piece of work. e.g. task_001 = frontend availability search UI, task_002 = slot selection UI, task_003 = backend availability API. Developers pick these up and implement them.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3840480"/>
            <a:ext cx="5669280" cy="1261872"/>
          </a:xfrm>
          <a:prstGeom prst="roundRect">
            <a:avLst>
              <a:gd name="adj" fmla="val 7246"/>
            </a:avLst>
          </a:prstGeom>
          <a:solidFill>
            <a:srgbClr val="1E293B"/>
          </a:solidFill>
          <a:ln w="2286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931920"/>
            <a:ext cx="2011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models.md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503920" y="3959352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0" y="3959352"/>
            <a:ext cx="1234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UML Diagrams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0" y="4343400"/>
            <a:ext cx="539496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Contains UML diagrams: Entity-Relationship Diagram (ERD) for the database, Sequence Diagrams for key flows like booking, and Component Diagrams for system architecture overview.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5257800"/>
            <a:ext cx="5669280" cy="1261872"/>
          </a:xfrm>
          <a:prstGeom prst="roundRect">
            <a:avLst>
              <a:gd name="adj" fmla="val 7246"/>
            </a:avLst>
          </a:prstGeom>
          <a:solidFill>
            <a:srgbClr val="1E293B"/>
          </a:solidFill>
          <a:ln w="2286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5349240"/>
            <a:ext cx="2011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figma_spec.md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2606040" y="5376672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06040" y="5376672"/>
            <a:ext cx="1234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Screen Specs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" y="5760720"/>
            <a:ext cx="539496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Lists every screen in the app (SCR-001 … SCR-025) with layout description, components used, and user interactions. Used by designers to build the UI in Figma.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63640" y="5257800"/>
            <a:ext cx="5669280" cy="1261872"/>
          </a:xfrm>
          <a:prstGeom prst="roundRect">
            <a:avLst>
              <a:gd name="adj" fmla="val 7246"/>
            </a:avLst>
          </a:prstGeom>
          <a:solidFill>
            <a:srgbClr val="1E293B"/>
          </a:solidFill>
          <a:ln w="2286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5349240"/>
            <a:ext cx="2011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designsystem.md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503920" y="5376672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03920" y="5376672"/>
            <a:ext cx="1234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Design Tokens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00800" y="5760720"/>
            <a:ext cx="539496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Defines the visual language: colors, font sizes, spacing, button styles, and component patterns. Keeps the whole app looking consistent across all screens.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Accent"/>
          <p:cNvSpPr/>
          <p:nvPr/>
        </p:nvSpPr>
        <p:spPr>
          <a:xfrm>
            <a:off x="457200" y="850000"/>
            <a:ext cx="2200000" cy="45720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4" name="LCard"/>
          <p:cNvSpPr/>
          <p:nvPr>
            <p:custDataLst>
              <p:tags r:id="rId1"/>
            </p:custDataLst>
          </p:nvPr>
        </p:nvSpPr>
        <p:spPr>
          <a:xfrm>
            <a:off x="425450" y="1191985"/>
            <a:ext cx="5532240" cy="4750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22860">
            <a:solidFill>
              <a:srgbClr val="F97316"/>
            </a:solidFill>
            <a:prstDash val="solid"/>
          </a:ln>
        </p:spPr>
      </p:sp>
      <p:sp>
        <p:nvSpPr>
          <p:cNvPr id="5" name="RCard"/>
          <p:cNvSpPr/>
          <p:nvPr>
            <p:custDataLst>
              <p:tags r:id="rId2"/>
            </p:custDataLst>
          </p:nvPr>
        </p:nvSpPr>
        <p:spPr>
          <a:xfrm>
            <a:off x="6170810" y="1191985"/>
            <a:ext cx="5532240" cy="4750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22860">
            <a:solidFill>
              <a:srgbClr val="22C55E"/>
            </a:solidFill>
            <a:prstDash val="solid"/>
          </a:ln>
        </p:spPr>
      </p:sp>
      <p:sp>
        <p:nvSpPr>
          <p:cNvPr id="6" name="Title"/>
          <p:cNvSpPr/>
          <p:nvPr/>
        </p:nvSpPr>
        <p:spPr>
          <a:xfrm>
            <a:off x="457200" y="170000"/>
            <a:ext cx="11277600" cy="64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9731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Challenges Faced During Development</a:t>
            </a:r>
            <a:endParaRPr lang="en-US" sz="2700" b="1" dirty="0">
              <a:solidFill>
                <a:srgbClr val="F97316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Many scenarios failed in real testing — each was raised as a bug, investigated and resolved</a:t>
            </a:r>
            <a:endParaRPr lang="en-US" sz="1150" dirty="0">
              <a:solidFill>
                <a:srgbClr val="64748B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7" name="LHdr"/>
          <p:cNvSpPr/>
          <p:nvPr>
            <p:custDataLst>
              <p:tags r:id="rId3"/>
            </p:custDataLst>
          </p:nvPr>
        </p:nvSpPr>
        <p:spPr>
          <a:xfrm>
            <a:off x="608330" y="1281985"/>
            <a:ext cx="5166480" cy="28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What Went Wrong</a:t>
            </a:r>
            <a:endParaRPr lang="en-US" sz="1400" b="1" dirty="0">
              <a:solidFill>
                <a:srgbClr val="F97316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8" name="LLine"/>
          <p:cNvSpPr/>
          <p:nvPr>
            <p:custDataLst>
              <p:tags r:id="rId4"/>
            </p:custDataLst>
          </p:nvPr>
        </p:nvSpPr>
        <p:spPr>
          <a:xfrm>
            <a:off x="608330" y="1581985"/>
            <a:ext cx="5166480" cy="18288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9" name="RHdr"/>
          <p:cNvSpPr/>
          <p:nvPr>
            <p:custDataLst>
              <p:tags r:id="rId5"/>
            </p:custDataLst>
          </p:nvPr>
        </p:nvSpPr>
        <p:spPr>
          <a:xfrm>
            <a:off x="6353690" y="1281985"/>
            <a:ext cx="5166480" cy="28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How We Raised &amp; Fixed It</a:t>
            </a:r>
            <a:endParaRPr lang="en-US" sz="1400" b="1" dirty="0">
              <a:solidFill>
                <a:srgbClr val="22C55E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10" name="RLine"/>
          <p:cNvSpPr/>
          <p:nvPr>
            <p:custDataLst>
              <p:tags r:id="rId6"/>
            </p:custDataLst>
          </p:nvPr>
        </p:nvSpPr>
        <p:spPr>
          <a:xfrm>
            <a:off x="6353690" y="1581985"/>
            <a:ext cx="5166480" cy="18288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11" name="LContent"/>
          <p:cNvSpPr/>
          <p:nvPr>
            <p:custDataLst>
              <p:tags r:id="rId7"/>
            </p:custDataLst>
          </p:nvPr>
        </p:nvSpPr>
        <p:spPr>
          <a:xfrm>
            <a:off x="608330" y="1642780"/>
            <a:ext cx="5166480" cy="427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72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Many application scenarios did not work as expected during end-to-end testing</a:t>
            </a:r>
            <a:endParaRPr lang="en-US" sz="1150" dirty="0"/>
          </a:p>
          <a:p>
            <a:pPr marL="342900" indent="-342900">
              <a:spcAft>
                <a:spcPts val="72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API endpoints returned HTTP 500 errors, empty results, or linked records to the wrong patient</a:t>
            </a:r>
            <a:endParaRPr lang="en-US" sz="1150" dirty="0"/>
          </a:p>
          <a:p>
            <a:pPr marL="342900" indent="-342900">
              <a:spcAft>
                <a:spcPts val="72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Frontend and backend mismatches caused features to silently break with no visible error</a:t>
            </a:r>
            <a:endParaRPr lang="en-US" sz="1150" dirty="0"/>
          </a:p>
          <a:p>
            <a:pPr marL="342900" indent="-342900">
              <a:spcAft>
                <a:spcPts val="72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Calendar and booking flows failed due to query issues, expired data, and library conflicts</a:t>
            </a:r>
            <a:endParaRPr lang="en-US" sz="1150" dirty="0"/>
          </a:p>
          <a:p>
            <a:pPr marL="342900" indent="-342900">
              <a:spcAft>
                <a:spcPts val="72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Dev-environment problems — DLL locks, missing role checks, LINQ translation errors — blocked the build</a:t>
            </a:r>
            <a:endParaRPr lang="en-US" sz="1150" dirty="0"/>
          </a:p>
          <a:p>
            <a:pPr marL="342900" indent="-342900">
              <a:spcAft>
                <a:spcPts val="72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AI assistant task checklists were not written back to the file after implementation</a:t>
            </a:r>
            <a:endParaRPr lang="en-US" sz="1150" dirty="0"/>
          </a:p>
        </p:txBody>
      </p:sp>
      <p:sp>
        <p:nvSpPr>
          <p:cNvPr id="12" name="RContent"/>
          <p:cNvSpPr/>
          <p:nvPr>
            <p:custDataLst>
              <p:tags r:id="rId8"/>
            </p:custDataLst>
          </p:nvPr>
        </p:nvSpPr>
        <p:spPr>
          <a:xfrm>
            <a:off x="6353690" y="1631985"/>
            <a:ext cx="5166480" cy="427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720"/>
              </a:spcAft>
              <a:buSzPct val="100000"/>
              <a:buChar char="•"/>
            </a:pPr>
            <a:r>
              <a:rPr lang="en-US" sz="1150" dirty="0">
                <a:solidFill>
                  <a:srgbClr val="86EF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Every failure was raised as a structured bug report in docs/bugs/ with a clear problem statement</a:t>
            </a:r>
            <a:endParaRPr lang="en-US" sz="1150" dirty="0"/>
          </a:p>
          <a:p>
            <a:pPr marL="342900" indent="-342900">
              <a:spcAft>
                <a:spcPts val="720"/>
              </a:spcAft>
              <a:buSzPct val="100000"/>
              <a:buChar char="•"/>
            </a:pPr>
            <a:r>
              <a:rPr lang="en-US" sz="1150" dirty="0">
                <a:solidFill>
                  <a:srgbClr val="86EF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Root cause was traced through API logs, EF Core query output, and browser console errors</a:t>
            </a:r>
            <a:endParaRPr lang="en-US" sz="1150" dirty="0"/>
          </a:p>
          <a:p>
            <a:pPr marL="342900" indent="-342900">
              <a:spcAft>
                <a:spcPts val="720"/>
              </a:spcAft>
              <a:buSzPct val="100000"/>
              <a:buChar char="•"/>
            </a:pPr>
            <a:r>
              <a:rPr lang="en-US" sz="1150" dirty="0">
                <a:solidFill>
                  <a:srgbClr val="86EF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Each bug was resolved with a targeted code fix — no workarounds, no loose ends left behind</a:t>
            </a:r>
            <a:endParaRPr lang="en-US" sz="1150" dirty="0"/>
          </a:p>
          <a:p>
            <a:pPr marL="342900" indent="-342900">
              <a:spcAft>
                <a:spcPts val="720"/>
              </a:spcAft>
              <a:buSzPct val="100000"/>
              <a:buChar char="•"/>
            </a:pPr>
            <a:r>
              <a:rPr lang="en-IN" altLang="en-US" sz="1150" dirty="0">
                <a:solidFill>
                  <a:srgbClr val="86EF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Many</a:t>
            </a:r>
            <a:r>
              <a:rPr lang="en-US" sz="1150" dirty="0">
                <a:solidFill>
                  <a:srgbClr val="86EF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bugs were raised and fully resolved across backend, frontend, database, and dev environment</a:t>
            </a:r>
            <a:endParaRPr lang="en-US" sz="1150" dirty="0"/>
          </a:p>
          <a:p>
            <a:pPr marL="342900" indent="-342900">
              <a:spcAft>
                <a:spcPts val="720"/>
              </a:spcAft>
              <a:buSzPct val="100000"/>
              <a:buChar char="•"/>
            </a:pPr>
            <a:r>
              <a:rPr lang="en-US" sz="1150" dirty="0">
                <a:solidFill>
                  <a:srgbClr val="86EF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Bug reports created a clear audit trail: what broke, why it broke, and exactly how it was fixed</a:t>
            </a:r>
            <a:endParaRPr lang="en-US" sz="1150" dirty="0"/>
          </a:p>
          <a:p>
            <a:pPr marL="342900" indent="-342900">
              <a:spcAft>
                <a:spcPts val="720"/>
              </a:spcAft>
              <a:buSzPct val="100000"/>
              <a:buChar char="•"/>
            </a:pPr>
            <a:r>
              <a:rPr lang="en-US" sz="1150" dirty="0">
                <a:solidFill>
                  <a:srgbClr val="86EFA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Every failure became a learning — the platform is more robust and reliable because of this process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4" name="Shap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5" name="Text 3"/>
          <p:cNvSpPr/>
          <p:nvPr/>
        </p:nvSpPr>
        <p:spPr>
          <a:xfrm>
            <a:off x="457200" y="1463040"/>
            <a:ext cx="112471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7C3AE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Propel</a:t>
            </a:r>
            <a:r>
              <a:rPr lang="en-IN" altLang="en-US" sz="18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SDLC</a:t>
            </a:r>
            <a:r>
              <a:rPr lang="en-US" sz="18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— Appointment Booking &amp; Clinical Intelligence Platform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0" y="3520440"/>
            <a:ext cx="3931920" cy="457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8" name="Text 6"/>
          <p:cNvSpPr/>
          <p:nvPr/>
        </p:nvSpPr>
        <p:spPr>
          <a:xfrm>
            <a:off x="457200" y="374904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React  ·  ASP.NET Core 8  ·  PostgreSQL  ·  Redis  ·  Docker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5212080"/>
            <a:ext cx="11247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Deepakkumar Sivakumar  ·  Arunprakash Sankar  ·  Nanthakumar Thangavel  ·  Mahesh Balasaheb Gavali</a:t>
            </a:r>
            <a:endParaRPr lang="en-US" sz="12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4.01574803149606,&quot;left&quot;:33.5,&quot;top&quot;:93.8570866141732,&quot;width&quot;:888}"/>
</p:tagLst>
</file>

<file path=ppt/tags/tag2.xml><?xml version="1.0" encoding="utf-8"?>
<p:tagLst xmlns:p="http://schemas.openxmlformats.org/presentationml/2006/main">
  <p:tag name="KSO_WM_DIAGRAM_VIRTUALLY_FRAME" val="{&quot;height&quot;:374.01574803149606,&quot;left&quot;:33.5,&quot;top&quot;:93.8570866141732,&quot;width&quot;:888}"/>
</p:tagLst>
</file>

<file path=ppt/tags/tag3.xml><?xml version="1.0" encoding="utf-8"?>
<p:tagLst xmlns:p="http://schemas.openxmlformats.org/presentationml/2006/main">
  <p:tag name="KSO_WM_DIAGRAM_VIRTUALLY_FRAME" val="{&quot;height&quot;:374.01574803149606,&quot;left&quot;:33.5,&quot;top&quot;:93.8570866141732,&quot;width&quot;:888}"/>
</p:tagLst>
</file>

<file path=ppt/tags/tag4.xml><?xml version="1.0" encoding="utf-8"?>
<p:tagLst xmlns:p="http://schemas.openxmlformats.org/presentationml/2006/main">
  <p:tag name="KSO_WM_DIAGRAM_VIRTUALLY_FRAME" val="{&quot;height&quot;:374.01574803149606,&quot;left&quot;:33.5,&quot;top&quot;:93.8570866141732,&quot;width&quot;:888}"/>
</p:tagLst>
</file>

<file path=ppt/tags/tag5.xml><?xml version="1.0" encoding="utf-8"?>
<p:tagLst xmlns:p="http://schemas.openxmlformats.org/presentationml/2006/main">
  <p:tag name="KSO_WM_DIAGRAM_VIRTUALLY_FRAME" val="{&quot;height&quot;:374.01574803149606,&quot;left&quot;:33.5,&quot;top&quot;:93.8570866141732,&quot;width&quot;:888}"/>
</p:tagLst>
</file>

<file path=ppt/tags/tag6.xml><?xml version="1.0" encoding="utf-8"?>
<p:tagLst xmlns:p="http://schemas.openxmlformats.org/presentationml/2006/main">
  <p:tag name="KSO_WM_DIAGRAM_VIRTUALLY_FRAME" val="{&quot;height&quot;:374.01574803149606,&quot;left&quot;:33.5,&quot;top&quot;:93.8570866141732,&quot;width&quot;:888}"/>
</p:tagLst>
</file>

<file path=ppt/tags/tag7.xml><?xml version="1.0" encoding="utf-8"?>
<p:tagLst xmlns:p="http://schemas.openxmlformats.org/presentationml/2006/main">
  <p:tag name="KSO_WM_DIAGRAM_VIRTUALLY_FRAME" val="{&quot;height&quot;:374.01574803149606,&quot;left&quot;:33.5,&quot;top&quot;:93.8570866141732,&quot;width&quot;:888}"/>
</p:tagLst>
</file>

<file path=ppt/tags/tag8.xml><?xml version="1.0" encoding="utf-8"?>
<p:tagLst xmlns:p="http://schemas.openxmlformats.org/presentationml/2006/main">
  <p:tag name="KSO_WM_DIAGRAM_VIRTUALLY_FRAME" val="{&quot;height&quot;:374.01574803149606,&quot;left&quot;:33.5,&quot;top&quot;:93.8570866141732,&quot;width&quot;:88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7375</Words>
  <Application>WPS Presentation</Application>
  <PresentationFormat>On-screen Show (16:9)</PresentationFormat>
  <Paragraphs>315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Segoe UI</vt:lpstr>
      <vt:lpstr>Segoe UI</vt:lpstr>
      <vt:lpstr>Segoe UI</vt:lpstr>
      <vt:lpstr>Courier New</vt:lpstr>
      <vt:lpstr>Courier New</vt:lpstr>
      <vt:lpstr>Courier New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DeepakKumar S</cp:lastModifiedBy>
  <cp:revision>6</cp:revision>
  <dcterms:created xsi:type="dcterms:W3CDTF">2026-05-07T11:52:00Z</dcterms:created>
  <dcterms:modified xsi:type="dcterms:W3CDTF">2026-05-08T08:45:22Z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AE942FB369B244458CF275EE21082B0F_12</vt:lpwstr>
  </property>
  <property fmtid="{D5CDD505-2E9C-101B-9397-08002B2CF9AE}" pid="3" name="KSOProductBuildVer">
    <vt:lpwstr>1033-12.2.0.23202</vt:lpwstr>
  </property>
</Properties>
</file>